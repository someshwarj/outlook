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361" r:id="rId3"/>
    <p:sldId id="320" r:id="rId5"/>
    <p:sldId id="337" r:id="rId6"/>
    <p:sldId id="382" r:id="rId7"/>
    <p:sldId id="383" r:id="rId8"/>
    <p:sldId id="384" r:id="rId9"/>
    <p:sldId id="385" r:id="rId10"/>
    <p:sldId id="386" r:id="rId11"/>
    <p:sldId id="387" r:id="rId12"/>
    <p:sldId id="388" r:id="rId13"/>
    <p:sldId id="389" r:id="rId14"/>
    <p:sldId id="390" r:id="rId15"/>
    <p:sldId id="391" r:id="rId16"/>
    <p:sldId id="38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7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9C2"/>
    <a:srgbClr val="0055AC"/>
    <a:srgbClr val="1771EA"/>
    <a:srgbClr val="EB2D7A"/>
    <a:srgbClr val="F37AA8"/>
    <a:srgbClr val="98C61C"/>
    <a:srgbClr val="3F71BA"/>
    <a:srgbClr val="3B5CAB"/>
    <a:srgbClr val="3A5FAD"/>
    <a:srgbClr val="363D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95" autoAdjust="0"/>
    <p:restoredTop sz="86443" autoAdjust="0"/>
  </p:normalViewPr>
  <p:slideViewPr>
    <p:cSldViewPr snapToGrid="0" showGuides="1">
      <p:cViewPr>
        <p:scale>
          <a:sx n="48" d="100"/>
          <a:sy n="48" d="100"/>
        </p:scale>
        <p:origin x="1098" y="911"/>
      </p:cViewPr>
      <p:guideLst>
        <p:guide orient="horz" pos="87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47C8E-FAE5-43D1-82C0-196E816DC30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noProof="0" smtClean="0">
                <a:ln>
                  <a:noFill/>
                </a:ln>
                <a:effectLst/>
                <a:uLnTx/>
                <a:uFillTx/>
                <a:sym typeface="+mn-ea"/>
              </a:rPr>
              <a:t>Click to edit Master text style</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lang="zh-CN" altLang="en-US" sz="1200" noProof="0" smtClean="0">
                <a:ln>
                  <a:noFill/>
                </a:ln>
                <a:effectLst/>
                <a:uLnTx/>
                <a:uFillTx/>
                <a:sym typeface="+mn-ea"/>
              </a:rPr>
              <a:t>Second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lang="zh-CN" altLang="en-US" sz="1200" noProof="0" smtClean="0">
                <a:ln>
                  <a:noFill/>
                </a:ln>
                <a:effectLst/>
                <a:uLnTx/>
                <a:uFillTx/>
                <a:sym typeface="+mn-ea"/>
              </a:rPr>
              <a:t>Third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lang="zh-CN" altLang="en-US" sz="1200" noProof="0" smtClean="0">
                <a:ln>
                  <a:noFill/>
                </a:ln>
                <a:effectLst/>
                <a:uLnTx/>
                <a:uFillTx/>
                <a:sym typeface="+mn-ea"/>
              </a:rPr>
              <a:t>Fourth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lang="zh-CN" altLang="en-US" sz="1200" noProof="0" smtClean="0">
                <a:ln>
                  <a:noFill/>
                </a:ln>
                <a:effectLst/>
                <a:uLnTx/>
                <a:uFillTx/>
                <a:sym typeface="+mn-ea"/>
              </a:rPr>
              <a:t>Fifth level</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2AF99-A73B-44C9-96FA-736798B6D18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072AF99-A73B-44C9-96FA-736798B6D18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Key quantities and inequality</a:t>
            </a:r>
            <a:endParaRPr lang="en-US" altLang="en-US"/>
          </a:p>
          <a:p>
            <a:r>
              <a:rPr lang="en-US" altLang="en-US"/>
              <a:t>- Training risk measures how well the model fits CoT examples seen during training:</a:t>
            </a:r>
            <a:endParaRPr lang="en-US" altLang="en-US"/>
          </a:p>
          <a:p>
            <a:r>
              <a:rPr lang="en-US" altLang="en-US"/>
              <a:t>R_{\mathrm{train}}(f)=\mathbb{E_{\mathnormal{(x,y)\sim D_{\mathrm{train}}}}}[\ell (f(x),y)]- Test risk measures expected error on the test distribution:</a:t>
            </a:r>
            <a:endParaRPr lang="en-US" altLang="en-US"/>
          </a:p>
          <a:p>
            <a:r>
              <a:rPr lang="en-US" altLang="en-US"/>
              <a:t>R_{\mathrm{test}}(f)=\mathbb{E_{\mathnormal{(x,y)\sim D_{\mathrm{test}}}}}[\ell (f(x),y)]- Distributional discrepancy quantifies how different test data are from training data:</a:t>
            </a:r>
            <a:endParaRPr lang="en-US" altLang="en-US"/>
          </a:p>
          <a:p>
            <a:r>
              <a:rPr lang="en-US" altLang="en-US"/>
              <a:t>A(D_{\mathrm{train}},D_{\mathrm{test}})=\mathcal{H}(D_{\mathrm{train}}\| D_{\mathrm{test}})</a:t>
            </a:r>
            <a:endParaRPr lang="en-US" altLang="en-US"/>
          </a:p>
          <a:p>
            <a:r>
              <a:rPr lang="en-US" altLang="en-US"/>
              <a:t>- where \mathcal{H} is a divergence (e.g., KL, Wasserstein).</a:t>
            </a:r>
            <a:endParaRPr lang="en-US" altLang="en-US"/>
          </a:p>
          <a:p>
            <a:r>
              <a:rPr lang="en-US" altLang="en-US"/>
              <a:t>Intuitive generalization boundR_{\mathrm{test}}(f)\leq R_{\mathrm{train}}(f)+C\cdot A(D_{\mathrm{train}},D_{\mathrm{test}})+\mathrm{finite-sample\  term}Interpretation: if the test distribution is close to training (A small), test error stays near training error; if A is large, expected test error increases roughly in proportion to the discrepancy.Walkthrough with plain language- What the model learns</a:t>
            </a:r>
            <a:endParaRPr lang="en-US" altLang="en-US"/>
          </a:p>
          <a:p>
            <a:r>
              <a:rPr lang="en-US" altLang="en-US"/>
              <a:t>During training the model sees many examples of problems paired with CoT chains. It internalizes statistical regularities: which tokens follow which, typical step phrasing, and common transformation patterns.</a:t>
            </a:r>
            <a:endParaRPr lang="en-US" altLang="en-US"/>
          </a:p>
          <a:p>
            <a:r>
              <a:rPr lang="en-US" altLang="en-US"/>
              <a:t>- What happens at inference</a:t>
            </a:r>
            <a:endParaRPr lang="en-US" altLang="en-US"/>
          </a:p>
          <a:p>
            <a:r>
              <a:rPr lang="en-US" altLang="en-US"/>
              <a:t>Given a new query, the model samples a continuation conditioned on learned patterns. If the query matches patterns in training, the sampled chain will likely be correct. If the query is novel in task, length, or format, the model must extrapolate from the nearest patterns it knows.</a:t>
            </a:r>
            <a:endParaRPr lang="en-US" altLang="en-US"/>
          </a:p>
          <a:p>
            <a:r>
              <a:rPr lang="en-US" altLang="en-US"/>
              <a:t>- Why fluent but wrong chains appear</a:t>
            </a:r>
            <a:endParaRPr lang="en-US" altLang="en-US"/>
          </a:p>
          <a:p>
            <a:r>
              <a:rPr lang="en-US" altLang="en-US"/>
              <a:t>The model can produce fluent intermediate text by stitching together high‑probability token sequences learned from training. Fluency does not imply logical correctness: the chain can be a coherent imitation of training patterns while failing to implement the correct transformation for the new input.</a:t>
            </a:r>
            <a:endParaRPr lang="en-US" altLang="en-US"/>
          </a:p>
          <a:p>
            <a:r>
              <a:rPr lang="en-US" altLang="en-US"/>
              <a:t>Concrete examples mapping to the inequality- Low discrepancy case</a:t>
            </a:r>
            <a:endParaRPr lang="en-US" altLang="en-US"/>
          </a:p>
          <a:p>
            <a:r>
              <a:rPr lang="en-US" altLang="en-US"/>
              <a:t>Training: many examples of ROT(13) then Shift(1) on 4‑letter elements.</a:t>
            </a:r>
            <a:endParaRPr lang="en-US" altLang="en-US"/>
          </a:p>
          <a:p>
            <a:r>
              <a:rPr lang="en-US" altLang="en-US"/>
              <a:t>Test: same operations on a new element ABCD.</a:t>
            </a:r>
            <a:endParaRPr lang="en-US" altLang="en-US"/>
          </a:p>
          <a:p>
            <a:r>
              <a:rPr lang="en-US" altLang="en-US"/>
              <a:t>Result: A small → R_{\mathrm{test}}\approx R_{\mathrm{train}} → high exact match.</a:t>
            </a:r>
            <a:endParaRPr lang="en-US" altLang="en-US"/>
          </a:p>
          <a:p>
            <a:r>
              <a:rPr lang="en-US" altLang="en-US"/>
              <a:t>- Moderate discrepancy case</a:t>
            </a:r>
            <a:endParaRPr lang="en-US" altLang="en-US"/>
          </a:p>
          <a:p>
            <a:r>
              <a:rPr lang="en-US" altLang="en-US"/>
              <a:t>Training: ROT and Shift in specific orders.</a:t>
            </a:r>
            <a:endParaRPr lang="en-US" altLang="en-US"/>
          </a:p>
          <a:p>
            <a:r>
              <a:rPr lang="en-US" altLang="en-US"/>
              <a:t>Test: same ops but new composition order (Shift then ROT).</a:t>
            </a:r>
            <a:endParaRPr lang="en-US" altLang="en-US"/>
          </a:p>
          <a:p>
            <a:r>
              <a:rPr lang="en-US" altLang="en-US"/>
              <a:t>Result: A larger → R_{\mathrm{test}} increases → model may produce plausible steps but wrong final answer.</a:t>
            </a:r>
            <a:endParaRPr lang="en-US" altLang="en-US"/>
          </a:p>
          <a:p>
            <a:r>
              <a:rPr lang="en-US" altLang="en-US"/>
              <a:t>- High discrepancy case</a:t>
            </a:r>
            <a:endParaRPr lang="en-US" altLang="en-US"/>
          </a:p>
          <a:p>
            <a:r>
              <a:rPr lang="en-US" altLang="en-US"/>
              <a:t>Training: only ROT and Shift.</a:t>
            </a:r>
            <a:endParaRPr lang="en-US" altLang="en-US"/>
          </a:p>
          <a:p>
            <a:r>
              <a:rPr lang="en-US" altLang="en-US"/>
              <a:t>Test: a new operation (reverse or substitution cipher).</a:t>
            </a:r>
            <a:endParaRPr lang="en-US" altLang="en-US"/>
          </a:p>
          <a:p>
            <a:r>
              <a:rPr lang="en-US" altLang="en-US"/>
              <a:t>Result: A large → R_{\mathrm{test}} much larger → outputs often incorrect and inconsistent.</a:t>
            </a:r>
            <a:endParaRPr lang="en-US" altLang="en-US"/>
          </a:p>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ltLang="en-US"/>
          </a:p>
          <a:p>
            <a:r>
              <a:rPr lang="en-US" altLang="en-US"/>
              <a:t>"DataAlchemy is a synthetic environment for controlled CoT testing. The idea is to remove internet bias and test reasoning using transformations like ROT, SHIFT, REVERSE. If CoT is real, model should generalize beyond what was trained."</a:t>
            </a:r>
            <a:endParaRPr lang="en-US" altLang="en-US"/>
          </a:p>
          <a:p>
            <a:endParaRPr lang="en-US" altLang="en-US"/>
          </a:p>
          <a:p>
            <a:r>
              <a:rPr lang="en-US" altLang="en-US"/>
              <a:t>- Why synthetic (0:45): Emphasize control: no confounding from large pretraining corpora.</a:t>
            </a:r>
            <a:endParaRPr lang="en-US" altLang="en-US"/>
          </a:p>
          <a:p>
            <a:r>
              <a:rPr lang="en-US" altLang="en-US"/>
              <a:t>- Describe atoms and elements (0:45): Elements are 4‑letter sequences; transformations are deterministic operations.</a:t>
            </a:r>
            <a:endParaRPr lang="en-US" altLang="en-US"/>
          </a:p>
          <a:p>
            <a:r>
              <a:rPr lang="en-US" altLang="en-US"/>
              <a:t>- Explain transformations and composition (0:30): ROT shifts letters; position shift rotates indices; composition models multi‑step reasoning.</a:t>
            </a:r>
            <a:endParaRPr lang="en-US" altLang="en-US"/>
          </a:p>
          <a:p>
            <a:r>
              <a:rPr lang="en-US" altLang="en-US"/>
              <a:t>- Evaluation (0:30): Explain metrics and why they measure both surface similarity and exact correctness.</a:t>
            </a:r>
            <a:endParaRPr lang="en-US" altLang="en-US"/>
          </a:p>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Define task generalization (0:45): Distinguish element novelty (new inputs) vs transformation novelty (new ops/compositions).</a:t>
            </a:r>
            <a:endParaRPr lang="en-US" altLang="en-US"/>
          </a:p>
          <a:p>
            <a:r>
              <a:rPr lang="en-US" altLang="en-US"/>
              <a:t>- Introduce TGC (1:00): Explain TGC as a weighted sum of element novelty, transformation novelty, and composition/order novelty. Keep it intuitive: higher TGC = harder.</a:t>
            </a:r>
            <a:endParaRPr lang="en-US" altLang="en-US"/>
          </a:p>
          <a:p>
            <a:r>
              <a:rPr lang="en-US" altLang="en-US"/>
              <a:t>- Theorem summary (0:45): State the failure threshold: beyond a TGC threshold, probability of correct CoT decays exponentially.</a:t>
            </a:r>
            <a:endParaRPr lang="en-US" altLang="en-US"/>
          </a:p>
          <a:p>
            <a:endParaRPr lang="en-US" altLang="en-US"/>
          </a:p>
          <a:p>
            <a:r>
              <a:rPr lang="en-US" altLang="en-US"/>
              <a:t>Example:</a:t>
            </a:r>
            <a:endParaRPr lang="en-US" altLang="en-US"/>
          </a:p>
          <a:p>
            <a:r>
              <a:rPr lang="en-US" altLang="en-US"/>
              <a:t>Train: SHIFT(+1), SHIFT(+2)</a:t>
            </a:r>
            <a:endParaRPr lang="en-US" altLang="en-US"/>
          </a:p>
          <a:p>
            <a:r>
              <a:rPr lang="en-US" altLang="en-US"/>
              <a:t>Test: SHIFT(+5), ROT(+3) → Fail</a:t>
            </a:r>
            <a:endParaRPr lang="en-US" altLang="en-US"/>
          </a:p>
          <a:p>
            <a:endParaRPr lang="en-US" altLang="en-US"/>
          </a:p>
          <a:p>
            <a:r>
              <a:rPr lang="en-US" altLang="en-US"/>
              <a:t>Speech (4 min):</a:t>
            </a:r>
            <a:endParaRPr lang="en-US" altLang="en-US"/>
          </a:p>
          <a:p>
            <a:r>
              <a:rPr lang="en-US" altLang="en-US"/>
              <a:t>"In Task Generalization, unseen tasks are tested.</a:t>
            </a:r>
            <a:endParaRPr lang="en-US" altLang="en-US"/>
          </a:p>
          <a:p>
            <a:r>
              <a:rPr lang="en-US" altLang="en-US"/>
              <a:t>If reasoning exists, the model should adapt.</a:t>
            </a:r>
            <a:endParaRPr lang="en-US" altLang="en-US"/>
          </a:p>
          <a:p>
            <a:r>
              <a:rPr lang="en-US" altLang="en-US"/>
              <a:t>Instead, performance collapses outside trained transformation space — proving pattern dependence."</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Explain regimes (0:45): Give concrete examples: ID = same ROT+Shift; CMP = reorder known ops; POOD = include one unseen op parameter; OOD = new op type.</a:t>
            </a:r>
            <a:endParaRPr lang="en-US" altLang="en-US"/>
          </a:p>
          <a:p>
            <a:r>
              <a:rPr lang="en-US" altLang="en-US"/>
              <a:t>- Present results (1:00): Summarize Table 1: perfect in ID, collapse elsewhere. Emphasize cases where intermediate steps look plausible but final answer is wrong.</a:t>
            </a:r>
            <a:endParaRPr lang="en-US" altLang="en-US"/>
          </a:p>
          <a:p>
            <a:r>
              <a:rPr lang="en-US" altLang="en-US"/>
              <a:t>- Interpretation (0:45): Models generalize by mapping to the most similar training pattern; this can produce coherent-looking chains that yield incorrect outputs.</a:t>
            </a:r>
            <a:endParaRPr lang="en-US" altLang="en-US"/>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Describe element tests (0:45): Examples: single‑letter change vs entirely new token set.</a:t>
            </a:r>
            <a:endParaRPr lang="en-US" altLang="en-US"/>
          </a:p>
          <a:p>
            <a:r>
              <a:rPr lang="en-US" altLang="en-US"/>
              <a:t>- Empirical pattern (1:00): Show that interpolation across similar elements often works; extrapolation to unseen tokens fails. Mention coincidence cases where outputs match by chance.</a:t>
            </a:r>
            <a:endParaRPr lang="en-US" altLang="en-US"/>
          </a:p>
          <a:p>
            <a:r>
              <a:rPr lang="en-US" altLang="en-US"/>
              <a:t>- Takeaway (0:45): CoT depends on element support in training; unseen tokens are a hard boundary.</a:t>
            </a:r>
            <a:endParaRPr lang="en-US" altLang="en-US"/>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Speaker notes (2:30)</a:t>
            </a:r>
            <a:endParaRPr lang="en-US" altLang="en-US"/>
          </a:p>
          <a:p>
            <a:r>
              <a:rPr lang="en-US" altLang="en-US"/>
              <a:t>- Explain length shift (0:45): Define \Delta L=|k_{train}-k_{test}|. Small \Delta L often manageable; large \Delta L not.</a:t>
            </a:r>
            <a:endParaRPr lang="en-US" altLang="en-US"/>
          </a:p>
          <a:p>
            <a:r>
              <a:rPr lang="en-US" altLang="en-US"/>
              <a:t>- Mechanisms of failure (1:00): Positional pattern dependence, compounding token errors, and template expectations.</a:t>
            </a:r>
            <a:endParaRPr lang="en-US" altLang="en-US"/>
          </a:p>
          <a:p>
            <a:r>
              <a:rPr lang="en-US" altLang="en-US"/>
              <a:t>- Example to show (0:45): Train on 2‑step chains, test on 5‑step chain: intermediate steps degrade and final answer fails.</a:t>
            </a:r>
            <a:endParaRPr lang="en-US" altLang="en-US"/>
          </a:p>
          <a:p>
            <a:endParaRPr lang="en-US" altLang="en-US"/>
          </a:p>
          <a:p>
            <a:r>
              <a:rPr lang="en-US" altLang="en-US"/>
              <a:t>Example result:</a:t>
            </a:r>
            <a:endParaRPr lang="en-US" altLang="en-US"/>
          </a:p>
          <a:p>
            <a:r>
              <a:rPr lang="en-US" altLang="en-US"/>
              <a:t>Train length = 4 → 100%</a:t>
            </a:r>
            <a:endParaRPr lang="en-US" altLang="en-US"/>
          </a:p>
          <a:p>
            <a:r>
              <a:rPr lang="en-US" altLang="en-US"/>
              <a:t>Test length = 3 or 6 → 0%</a:t>
            </a:r>
            <a:endParaRPr lang="en-US" altLang="en-US"/>
          </a:p>
          <a:p>
            <a:endParaRPr lang="en-US" altLang="en-US"/>
          </a:p>
          <a:p>
            <a:r>
              <a:rPr lang="en-US" altLang="en-US"/>
              <a:t>Speech (4 min):</a:t>
            </a:r>
            <a:endParaRPr lang="en-US" altLang="en-US"/>
          </a:p>
          <a:p>
            <a:r>
              <a:rPr lang="en-US" altLang="en-US"/>
              <a:t>"When input or reasoning chain length shifts, models fail. They learn reasoning format, not logic. This is strong evidence that CoT is memorized structure rather than abstract reasoning."</a:t>
            </a:r>
            <a:endParaRPr lang="en-US" altLang="en-US"/>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Explain format dependence (0:45): Models learn prompt templates and step markers.</a:t>
            </a:r>
            <a:endParaRPr lang="en-US" altLang="en-US"/>
          </a:p>
          <a:p>
            <a:r>
              <a:rPr lang="en-US" altLang="en-US"/>
              <a:t>- Concrete examples (1:00): Show training prompt with explicit “Step 1” markers vs test prompt with inline description or story format. Describe outcomes: sometimes correct, often fluent but wrong.</a:t>
            </a:r>
            <a:endParaRPr lang="en-US" altLang="en-US"/>
          </a:p>
          <a:p>
            <a:r>
              <a:rPr lang="en-US" altLang="en-US"/>
              <a:t>- Implication (0:45): Robust evaluation must vary prompt styles; format sensitivity undermines reliability.</a:t>
            </a:r>
            <a:endParaRPr lang="en-US" altLang="en-US"/>
          </a:p>
          <a:p>
            <a:endParaRPr lang="en-US" altLang="en-US"/>
          </a:p>
          <a:p>
            <a:r>
              <a:rPr lang="en-US" altLang="en-US"/>
              <a:t>Speech (3 min):</a:t>
            </a:r>
            <a:endParaRPr lang="en-US" altLang="en-US"/>
          </a:p>
          <a:p>
            <a:r>
              <a:rPr lang="en-US" altLang="en-US"/>
              <a:t>"Even minor format changes confuse the model. A real reasoner would ignore formatting noise — LLMs can’t. This confirms CoT reasoning is brittle."</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Synthesize (1:00): Reiterate the data distribution lens: distributional discrepancy predicts failure. Use the BLEU vs Edit Distance trend to visualize.</a:t>
            </a:r>
            <a:endParaRPr lang="en-US" altLang="en-US"/>
          </a:p>
          <a:p>
            <a:r>
              <a:rPr lang="en-US" altLang="en-US"/>
              <a:t>- Highlight surprising point (0:45): Correct-looking chains can mask incorrect reasoning; this is the “mirage.”</a:t>
            </a:r>
            <a:endParaRPr lang="en-US" altLang="en-US"/>
          </a:p>
          <a:p>
            <a:r>
              <a:rPr lang="en-US" altLang="en-US"/>
              <a:t>- Transition to implications (0:45): Move from empirical findings to what practitioners and researchers should do.</a:t>
            </a:r>
            <a:endParaRPr lang="en-US" altLang="en-US"/>
          </a:p>
          <a:p>
            <a:endParaRPr lang="en-US" altLang="en-US"/>
          </a:p>
          <a:p>
            <a:r>
              <a:rPr lang="en-US" altLang="en-US"/>
              <a:t>"The experiments show clear trends — LLMs do not scale reasoning capability. They imitate reasoning patterns like a script."</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Practical advice (1:00): For deployments, validate CoT outputs with verification steps, adversarial prompts, and out‑of‑distribution tests.</a:t>
            </a:r>
            <a:endParaRPr lang="en-US" altLang="en-US"/>
          </a:p>
          <a:p>
            <a:r>
              <a:rPr lang="en-US" altLang="en-US"/>
              <a:t>- Research directions (0:45): Suggest integrating symbolic modules, positional encodings for algorithmic tasks, and richer supervision.</a:t>
            </a:r>
            <a:endParaRPr lang="en-US" altLang="en-US"/>
          </a:p>
          <a:p>
            <a:r>
              <a:rPr lang="en-US" altLang="en-US"/>
              <a:t>- Limitations (0:45): Acknowledge DATAALCHEMY is synthetic; results are strong evidence but need complementary studies on large pretrained models.</a:t>
            </a:r>
            <a:endParaRPr lang="en-US" altLang="en-US"/>
          </a:p>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 Wrap up (1:00): Restate the central claim succinctly: CoT success ≈ pattern interpolation; generalization fails when distributional discrepancy grows.</a:t>
            </a:r>
            <a:endParaRPr lang="en-US" altLang="en-US"/>
          </a:p>
          <a:p>
            <a:r>
              <a:rPr lang="en-US" altLang="en-US"/>
              <a:t>- Call to action (0:45): Encourage audience to include diverse OOD tests in evaluations and to be cautious when interpreting CoT.</a:t>
            </a:r>
            <a:endParaRPr lang="en-US" altLang="en-US"/>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072AF99-A73B-44C9-96FA-736798B6D18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71"/>
            <a:ext cx="12192000" cy="68576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7_标题幻灯片">
    <p:spTree>
      <p:nvGrpSpPr>
        <p:cNvPr id="1" name=""/>
        <p:cNvGrpSpPr/>
        <p:nvPr/>
      </p:nvGrpSpPr>
      <p:grpSpPr>
        <a:xfrm>
          <a:off x="0" y="0"/>
          <a:ext cx="0" cy="0"/>
          <a:chOff x="0" y="0"/>
          <a:chExt cx="0" cy="0"/>
        </a:xfrm>
      </p:grpSpPr>
      <p:grpSp>
        <p:nvGrpSpPr>
          <p:cNvPr id="3" name="组合 2"/>
          <p:cNvGrpSpPr/>
          <p:nvPr userDrawn="1"/>
        </p:nvGrpSpPr>
        <p:grpSpPr>
          <a:xfrm>
            <a:off x="0" y="0"/>
            <a:ext cx="12192000" cy="6857656"/>
            <a:chOff x="0" y="0"/>
            <a:chExt cx="12192000" cy="6857656"/>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flipH="1" flipV="1">
              <a:off x="0" y="5978768"/>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a:off x="9438459" y="0"/>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flipV="1">
            <a:off x="0" y="171"/>
            <a:ext cx="12192000" cy="68576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6_标题幻灯片">
    <p:spTree>
      <p:nvGrpSpPr>
        <p:cNvPr id="1" name=""/>
        <p:cNvGrpSpPr/>
        <p:nvPr/>
      </p:nvGrpSpPr>
      <p:grpSpPr>
        <a:xfrm>
          <a:off x="0" y="0"/>
          <a:ext cx="0" cy="0"/>
          <a:chOff x="0" y="0"/>
          <a:chExt cx="0" cy="0"/>
        </a:xfrm>
      </p:grpSpPr>
      <p:grpSp>
        <p:nvGrpSpPr>
          <p:cNvPr id="3" name="组合 2"/>
          <p:cNvGrpSpPr/>
          <p:nvPr userDrawn="1"/>
        </p:nvGrpSpPr>
        <p:grpSpPr>
          <a:xfrm>
            <a:off x="0" y="0"/>
            <a:ext cx="12192000" cy="6857656"/>
            <a:chOff x="0" y="0"/>
            <a:chExt cx="12192000" cy="6857656"/>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flipH="1" flipV="1">
              <a:off x="0" y="5978768"/>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a:off x="9438459" y="0"/>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3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171"/>
            <a:ext cx="12192000" cy="68576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8_标题幻灯片">
    <p:spTree>
      <p:nvGrpSpPr>
        <p:cNvPr id="1" name=""/>
        <p:cNvGrpSpPr/>
        <p:nvPr/>
      </p:nvGrpSpPr>
      <p:grpSpPr>
        <a:xfrm>
          <a:off x="0" y="0"/>
          <a:ext cx="0" cy="0"/>
          <a:chOff x="0" y="0"/>
          <a:chExt cx="0" cy="0"/>
        </a:xfrm>
      </p:grpSpPr>
      <p:grpSp>
        <p:nvGrpSpPr>
          <p:cNvPr id="3" name="组合 2"/>
          <p:cNvGrpSpPr/>
          <p:nvPr userDrawn="1"/>
        </p:nvGrpSpPr>
        <p:grpSpPr>
          <a:xfrm flipV="1">
            <a:off x="0" y="0"/>
            <a:ext cx="12192000" cy="6857656"/>
            <a:chOff x="0" y="0"/>
            <a:chExt cx="12192000" cy="6857656"/>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flipH="1" flipV="1">
              <a:off x="0" y="5978768"/>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a:off x="9438459" y="0"/>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V="1">
            <a:off x="0" y="171"/>
            <a:ext cx="12192000" cy="68576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标题幻灯片">
    <p:spTree>
      <p:nvGrpSpPr>
        <p:cNvPr id="1" name=""/>
        <p:cNvGrpSpPr/>
        <p:nvPr/>
      </p:nvGrpSpPr>
      <p:grpSpPr>
        <a:xfrm>
          <a:off x="0" y="0"/>
          <a:ext cx="0" cy="0"/>
          <a:chOff x="0" y="0"/>
          <a:chExt cx="0" cy="0"/>
        </a:xfrm>
      </p:grpSpPr>
      <p:grpSp>
        <p:nvGrpSpPr>
          <p:cNvPr id="3" name="组合 2"/>
          <p:cNvGrpSpPr/>
          <p:nvPr userDrawn="1"/>
        </p:nvGrpSpPr>
        <p:grpSpPr>
          <a:xfrm flipV="1">
            <a:off x="0" y="0"/>
            <a:ext cx="12192000" cy="6857656"/>
            <a:chOff x="0" y="0"/>
            <a:chExt cx="12192000" cy="6857656"/>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flipH="1" flipV="1">
              <a:off x="0" y="5978768"/>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rcRect l="10072" b="48969"/>
            <a:stretch>
              <a:fillRect/>
            </a:stretch>
          </p:blipFill>
          <p:spPr>
            <a:xfrm>
              <a:off x="9438459" y="0"/>
              <a:ext cx="2753541" cy="878888"/>
            </a:xfrm>
            <a:custGeom>
              <a:avLst/>
              <a:gdLst>
                <a:gd name="connsiteX0" fmla="*/ 10964008 w 10964008"/>
                <a:gd name="connsiteY0" fmla="*/ 3499543 h 3499543"/>
                <a:gd name="connsiteX1" fmla="*/ 0 w 10964008"/>
                <a:gd name="connsiteY1" fmla="*/ 0 h 3499543"/>
                <a:gd name="connsiteX2" fmla="*/ 10964008 w 10964008"/>
                <a:gd name="connsiteY2" fmla="*/ 0 h 3499543"/>
              </a:gdLst>
              <a:ahLst/>
              <a:cxnLst>
                <a:cxn ang="0">
                  <a:pos x="connsiteX0" y="connsiteY0"/>
                </a:cxn>
                <a:cxn ang="0">
                  <a:pos x="connsiteX1" y="connsiteY1"/>
                </a:cxn>
                <a:cxn ang="0">
                  <a:pos x="connsiteX2" y="connsiteY2"/>
                </a:cxn>
              </a:cxnLst>
              <a:rect l="l" t="t" r="r" b="b"/>
              <a:pathLst>
                <a:path w="10964008" h="3499543">
                  <a:moveTo>
                    <a:pt x="10964008" y="3499543"/>
                  </a:moveTo>
                  <a:lnTo>
                    <a:pt x="0" y="0"/>
                  </a:lnTo>
                  <a:lnTo>
                    <a:pt x="10964008" y="0"/>
                  </a:lnTo>
                  <a:close/>
                </a:path>
              </a:pathLst>
            </a:custGeom>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5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400000">
            <a:off x="3871685" y="-1462313"/>
            <a:ext cx="6858000" cy="97826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Click to edit Master title style</a:t>
            </a:r>
            <a:endParaRPr lang="zh-CN" altLang="en-US" smtClean="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C40D9B-40DE-40F2-B1F7-10F71B5D2BB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F500A-20A7-471A-86E3-34823246EEC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905250" y="3742055"/>
            <a:ext cx="7545705" cy="1198880"/>
          </a:xfrm>
          <a:prstGeom prst="rect">
            <a:avLst/>
          </a:prstGeom>
          <a:noFill/>
        </p:spPr>
        <p:txBody>
          <a:bodyPr wrap="square">
            <a:spAutoFit/>
          </a:bodyPr>
          <a:lstStyle/>
          <a:p>
            <a:pPr algn="r"/>
            <a:r>
              <a:rPr lang="en-US" altLang="en-US" sz="3600" b="1" dirty="0">
                <a:solidFill>
                  <a:srgbClr val="0069C2"/>
                </a:solidFill>
                <a:latin typeface="Microsoft YaHei" panose="020B0503020204020204" pitchFamily="34" charset="-122"/>
                <a:ea typeface="Microsoft YaHei" panose="020B0503020204020204" pitchFamily="34" charset="-122"/>
              </a:rPr>
              <a:t>Is Chain-of-Thought Reasoning a Mirage?</a:t>
            </a:r>
            <a:endParaRPr lang="en-US" altLang="en-US" sz="3600" b="1" dirty="0">
              <a:solidFill>
                <a:srgbClr val="0069C2"/>
              </a:solidFill>
              <a:latin typeface="Microsoft YaHei" panose="020B0503020204020204" pitchFamily="34" charset="-122"/>
              <a:ea typeface="Microsoft YaHei" panose="020B0503020204020204" pitchFamily="34" charset="-122"/>
            </a:endParaRPr>
          </a:p>
        </p:txBody>
      </p:sp>
      <p:sp>
        <p:nvSpPr>
          <p:cNvPr id="3" name="矩形 2"/>
          <p:cNvSpPr/>
          <p:nvPr/>
        </p:nvSpPr>
        <p:spPr>
          <a:xfrm>
            <a:off x="5798185" y="5948045"/>
            <a:ext cx="5903595" cy="589915"/>
          </a:xfrm>
          <a:prstGeom prst="rect">
            <a:avLst/>
          </a:prstGeom>
        </p:spPr>
        <p:txBody>
          <a:bodyPr wrap="square">
            <a:noAutofit/>
          </a:bodyPr>
          <a:lstStyle/>
          <a:p>
            <a:pPr algn="ctr"/>
            <a:r>
              <a:rPr lang="en-US" altLang="en-US" sz="1600" b="1" dirty="0">
                <a:solidFill>
                  <a:srgbClr val="0069C2"/>
                </a:solidFill>
                <a:latin typeface="Microsoft YaHei" panose="020B0503020204020204" pitchFamily="34" charset="-122"/>
                <a:ea typeface="Microsoft YaHei" panose="020B0503020204020204" pitchFamily="34" charset="-122"/>
              </a:rPr>
              <a:t>Authors:</a:t>
            </a:r>
            <a:r>
              <a:rPr lang="en-US" altLang="en-US" sz="1600" dirty="0">
                <a:solidFill>
                  <a:srgbClr val="0069C2"/>
                </a:solidFill>
                <a:latin typeface="Microsoft YaHei" panose="020B0503020204020204" pitchFamily="34" charset="-122"/>
                <a:ea typeface="Microsoft YaHei" panose="020B0503020204020204" pitchFamily="34" charset="-122"/>
              </a:rPr>
              <a:t> Chengshuai Zhao et al. (2025)</a:t>
            </a:r>
            <a:endParaRPr lang="en-US" altLang="en-US" sz="1600" dirty="0">
              <a:solidFill>
                <a:srgbClr val="0069C2"/>
              </a:solidFill>
              <a:latin typeface="Microsoft YaHei" panose="020B0503020204020204" pitchFamily="34" charset="-122"/>
              <a:ea typeface="Microsoft YaHei" panose="020B0503020204020204" pitchFamily="34" charset="-122"/>
            </a:endParaRPr>
          </a:p>
          <a:p>
            <a:pPr algn="ctr"/>
            <a:endParaRPr lang="en-US" altLang="en-US" sz="1600" dirty="0">
              <a:solidFill>
                <a:srgbClr val="0069C2"/>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rot="18515204">
            <a:off x="7323516" y="3972393"/>
            <a:ext cx="3406140" cy="706755"/>
          </a:xfrm>
          <a:prstGeom prst="rect">
            <a:avLst/>
          </a:prstGeom>
          <a:noFill/>
        </p:spPr>
        <p:txBody>
          <a:bodyPr wrap="none">
            <a:spAutoFit/>
          </a:bodyPr>
          <a:lstStyle/>
          <a:p>
            <a:pPr algn="r"/>
            <a:r>
              <a:rPr lang="en-US" altLang="en-US" sz="4000" dirty="0">
                <a:solidFill>
                  <a:schemeClr val="bg1">
                    <a:lumMod val="65000"/>
                  </a:schemeClr>
                </a:solidFill>
                <a:latin typeface="Microsoft YaHei" panose="020B0503020204020204" pitchFamily="34" charset="-122"/>
                <a:ea typeface="Microsoft YaHei" panose="020B0503020204020204" pitchFamily="34" charset="-122"/>
              </a:rPr>
              <a:t>MOTIVATION</a:t>
            </a:r>
            <a:endParaRPr lang="en-US" altLang="en-US" sz="4000" dirty="0">
              <a:solidFill>
                <a:schemeClr val="bg1">
                  <a:lumMod val="65000"/>
                </a:schemeClr>
              </a:solidFill>
              <a:latin typeface="Microsoft YaHei" panose="020B0503020204020204" pitchFamily="34" charset="-122"/>
              <a:ea typeface="Microsoft YaHei" panose="020B0503020204020204" pitchFamily="34" charset="-122"/>
            </a:endParaRPr>
          </a:p>
        </p:txBody>
      </p:sp>
      <p:grpSp>
        <p:nvGrpSpPr>
          <p:cNvPr id="3" name="组合 2"/>
          <p:cNvGrpSpPr/>
          <p:nvPr/>
        </p:nvGrpSpPr>
        <p:grpSpPr>
          <a:xfrm>
            <a:off x="5085329" y="1004582"/>
            <a:ext cx="4919464" cy="782170"/>
            <a:chOff x="2586940" y="2272912"/>
            <a:chExt cx="4919464" cy="782170"/>
          </a:xfrm>
        </p:grpSpPr>
        <p:sp>
          <p:nvSpPr>
            <p:cNvPr id="20" name="椭圆 19"/>
            <p:cNvSpPr/>
            <p:nvPr/>
          </p:nvSpPr>
          <p:spPr>
            <a:xfrm>
              <a:off x="6727975" y="2272912"/>
              <a:ext cx="778429" cy="782170"/>
            </a:xfrm>
            <a:prstGeom prst="ellipse">
              <a:avLst/>
            </a:prstGeom>
            <a:solidFill>
              <a:sysClr val="window" lastClr="FFFFFF"/>
            </a:solidFill>
            <a:ln w="63500" cap="flat" cmpd="sng" algn="ctr">
              <a:solidFill>
                <a:srgbClr val="0055AC"/>
              </a:solidFill>
              <a:prstDash val="solid"/>
            </a:ln>
            <a:effectLst>
              <a:innerShdw blurRad="63500" dist="63500" dir="13200000">
                <a:sysClr val="windowText" lastClr="000000">
                  <a:alpha val="20000"/>
                </a:sysClr>
              </a:innerShdw>
            </a:effectLst>
          </p:spPr>
          <p:txBody>
            <a:bodyPr lIns="0" tIns="0" rIns="0" bIns="0" anchor="ctr"/>
            <a:lstStyle/>
            <a:p>
              <a:pPr algn="ctr">
                <a:defRPr/>
              </a:pPr>
              <a:r>
                <a:rPr lang="en-US" sz="3200" kern="0" dirty="0">
                  <a:solidFill>
                    <a:schemeClr val="tx1">
                      <a:lumMod val="65000"/>
                      <a:lumOff val="35000"/>
                    </a:schemeClr>
                  </a:solidFill>
                  <a:latin typeface="Impact" panose="020B0806030902050204" pitchFamily="34" charset="0"/>
                </a:rPr>
                <a:t>01</a:t>
              </a:r>
              <a:endParaRPr lang="en-US" sz="3200" kern="0" dirty="0">
                <a:solidFill>
                  <a:schemeClr val="tx1">
                    <a:lumMod val="65000"/>
                    <a:lumOff val="35000"/>
                  </a:schemeClr>
                </a:solidFill>
                <a:latin typeface="Impact" panose="020B0806030902050204" pitchFamily="34" charset="0"/>
              </a:endParaRPr>
            </a:p>
          </p:txBody>
        </p:sp>
        <p:grpSp>
          <p:nvGrpSpPr>
            <p:cNvPr id="2" name="组合 1"/>
            <p:cNvGrpSpPr/>
            <p:nvPr/>
          </p:nvGrpSpPr>
          <p:grpSpPr>
            <a:xfrm>
              <a:off x="2586940" y="2434134"/>
              <a:ext cx="3132584" cy="519112"/>
              <a:chOff x="3309931" y="2434134"/>
              <a:chExt cx="2450105" cy="519112"/>
            </a:xfrm>
          </p:grpSpPr>
          <p:sp>
            <p:nvSpPr>
              <p:cNvPr id="21" name="矩形 15"/>
              <p:cNvSpPr/>
              <p:nvPr/>
            </p:nvSpPr>
            <p:spPr>
              <a:xfrm>
                <a:off x="3309931" y="2496046"/>
                <a:ext cx="2441575" cy="457200"/>
              </a:xfrm>
              <a:custGeom>
                <a:avLst/>
                <a:gdLst>
                  <a:gd name="connsiteX0" fmla="*/ 0 w 3744416"/>
                  <a:gd name="connsiteY0" fmla="*/ 0 h 689605"/>
                  <a:gd name="connsiteX1" fmla="*/ 3744416 w 3744416"/>
                  <a:gd name="connsiteY1" fmla="*/ 0 h 689605"/>
                  <a:gd name="connsiteX2" fmla="*/ 3744416 w 3744416"/>
                  <a:gd name="connsiteY2" fmla="*/ 689605 h 689605"/>
                  <a:gd name="connsiteX3" fmla="*/ 0 w 3744416"/>
                  <a:gd name="connsiteY3" fmla="*/ 689605 h 689605"/>
                  <a:gd name="connsiteX4" fmla="*/ 0 w 3744416"/>
                  <a:gd name="connsiteY4" fmla="*/ 0 h 689605"/>
                  <a:gd name="connsiteX0-1" fmla="*/ 39188 w 3783604"/>
                  <a:gd name="connsiteY0-2" fmla="*/ 0 h 689605"/>
                  <a:gd name="connsiteX1-3" fmla="*/ 3783604 w 3783604"/>
                  <a:gd name="connsiteY1-4" fmla="*/ 0 h 689605"/>
                  <a:gd name="connsiteX2-5" fmla="*/ 3783604 w 3783604"/>
                  <a:gd name="connsiteY2-6" fmla="*/ 689605 h 689605"/>
                  <a:gd name="connsiteX3-7" fmla="*/ 0 w 3783604"/>
                  <a:gd name="connsiteY3-8" fmla="*/ 572039 h 689605"/>
                  <a:gd name="connsiteX4-9" fmla="*/ 39188 w 3783604"/>
                  <a:gd name="connsiteY4-10" fmla="*/ 0 h 6896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83604" h="689605">
                    <a:moveTo>
                      <a:pt x="39188" y="0"/>
                    </a:moveTo>
                    <a:lnTo>
                      <a:pt x="3783604" y="0"/>
                    </a:lnTo>
                    <a:lnTo>
                      <a:pt x="3783604" y="689605"/>
                    </a:lnTo>
                    <a:lnTo>
                      <a:pt x="0" y="572039"/>
                    </a:lnTo>
                    <a:lnTo>
                      <a:pt x="39188" y="0"/>
                    </a:lnTo>
                    <a:close/>
                  </a:path>
                </a:pathLst>
              </a:custGeom>
              <a:gradFill>
                <a:gsLst>
                  <a:gs pos="0">
                    <a:sysClr val="windowText" lastClr="000000"/>
                  </a:gs>
                  <a:gs pos="100000">
                    <a:sysClr val="windowText" lastClr="000000">
                      <a:alpha val="9000"/>
                    </a:sysClr>
                  </a:gs>
                </a:gsLst>
                <a:lin ang="5400000" scaled="0"/>
              </a:gradFill>
              <a:ln w="25400" cap="flat" cmpd="sng" algn="ctr">
                <a:noFill/>
                <a:prstDash val="solid"/>
              </a:ln>
              <a:effectLst/>
            </p:spPr>
            <p:txBody>
              <a:bodyPr lIns="68580" tIns="34290" rIns="68580" bIns="34290" anchor="ctr"/>
              <a:lstStyle/>
              <a:p>
                <a:pPr algn="ctr">
                  <a:defRPr/>
                </a:pPr>
                <a:endParaRPr lang="en-US" sz="1350" kern="0">
                  <a:solidFill>
                    <a:sysClr val="window" lastClr="FFFFFF"/>
                  </a:solidFill>
                </a:endParaRPr>
              </a:p>
            </p:txBody>
          </p:sp>
          <p:sp>
            <p:nvSpPr>
              <p:cNvPr id="22" name="矩形 21"/>
              <p:cNvSpPr/>
              <p:nvPr/>
            </p:nvSpPr>
            <p:spPr>
              <a:xfrm>
                <a:off x="3318461" y="2434134"/>
                <a:ext cx="2441575" cy="457200"/>
              </a:xfrm>
              <a:prstGeom prst="rect">
                <a:avLst/>
              </a:prstGeom>
              <a:solidFill>
                <a:srgbClr val="0055AC"/>
              </a:solidFill>
              <a:ln w="25400" cap="flat" cmpd="sng" algn="ctr">
                <a:solidFill>
                  <a:srgbClr val="FCFCFC"/>
                </a:solidFill>
                <a:prstDash val="solid"/>
              </a:ln>
              <a:effectLst/>
            </p:spPr>
            <p:txBody>
              <a:bodyPr lIns="68580" tIns="34290" rIns="68580" bIns="34290" anchor="ctr"/>
              <a:lstStyle/>
              <a:p>
                <a:pPr algn="ctr">
                  <a:lnSpc>
                    <a:spcPct val="130000"/>
                  </a:lnSpc>
                  <a:defRPr/>
                </a:pPr>
                <a:r>
                  <a:rPr lang="en-US" altLang="en-US" sz="1400" b="1" kern="0" dirty="0">
                    <a:solidFill>
                      <a:schemeClr val="bg1"/>
                    </a:solidFill>
                    <a:latin typeface="Microsoft YaHei" panose="020B0503020204020204" pitchFamily="34" charset="-122"/>
                    <a:ea typeface="Microsoft YaHei" panose="020B0503020204020204" pitchFamily="34" charset="-122"/>
                  </a:rPr>
                  <a:t>LLMs look intelligent</a:t>
                </a:r>
                <a:endParaRPr lang="en-US" altLang="en-US" sz="1400" b="1" kern="0" dirty="0">
                  <a:solidFill>
                    <a:schemeClr val="bg1"/>
                  </a:solidFill>
                  <a:latin typeface="Microsoft YaHei" panose="020B0503020204020204" pitchFamily="34" charset="-122"/>
                  <a:ea typeface="Microsoft YaHei" panose="020B0503020204020204" pitchFamily="34" charset="-122"/>
                </a:endParaRPr>
              </a:p>
            </p:txBody>
          </p:sp>
        </p:grpSp>
        <p:cxnSp>
          <p:nvCxnSpPr>
            <p:cNvPr id="23" name="直接连接符 70"/>
            <p:cNvCxnSpPr>
              <a:cxnSpLocks noChangeShapeType="1"/>
              <a:stCxn id="20" idx="2"/>
            </p:cNvCxnSpPr>
            <p:nvPr/>
          </p:nvCxnSpPr>
          <p:spPr bwMode="auto">
            <a:xfrm flipH="1">
              <a:off x="5730430" y="2663997"/>
              <a:ext cx="997545" cy="27117"/>
            </a:xfrm>
            <a:prstGeom prst="line">
              <a:avLst/>
            </a:prstGeom>
            <a:noFill/>
            <a:ln w="25400" algn="ctr">
              <a:solidFill>
                <a:srgbClr val="0055AC"/>
              </a:solidFill>
              <a:round/>
              <a:tailEnd type="oval" w="med" len="med"/>
            </a:ln>
            <a:extLst>
              <a:ext uri="{909E8E84-426E-40DD-AFC4-6F175D3DCCD1}">
                <a14:hiddenFill xmlns:a14="http://schemas.microsoft.com/office/drawing/2010/main">
                  <a:noFill/>
                </a14:hiddenFill>
              </a:ext>
            </a:extLst>
          </p:spPr>
        </p:cxnSp>
      </p:grpSp>
      <p:grpSp>
        <p:nvGrpSpPr>
          <p:cNvPr id="40" name="组合 39"/>
          <p:cNvGrpSpPr/>
          <p:nvPr/>
        </p:nvGrpSpPr>
        <p:grpSpPr>
          <a:xfrm>
            <a:off x="4186186" y="2119798"/>
            <a:ext cx="4919464" cy="895917"/>
            <a:chOff x="2586940" y="2272912"/>
            <a:chExt cx="4919464" cy="895917"/>
          </a:xfrm>
        </p:grpSpPr>
        <p:sp>
          <p:nvSpPr>
            <p:cNvPr id="41" name="椭圆 40"/>
            <p:cNvSpPr/>
            <p:nvPr/>
          </p:nvSpPr>
          <p:spPr>
            <a:xfrm>
              <a:off x="6727975" y="2272912"/>
              <a:ext cx="778429" cy="782170"/>
            </a:xfrm>
            <a:prstGeom prst="ellipse">
              <a:avLst/>
            </a:prstGeom>
            <a:solidFill>
              <a:sysClr val="window" lastClr="FFFFFF"/>
            </a:solidFill>
            <a:ln w="63500" cap="flat" cmpd="sng" algn="ctr">
              <a:solidFill>
                <a:srgbClr val="0055AC"/>
              </a:solidFill>
              <a:prstDash val="solid"/>
            </a:ln>
            <a:effectLst>
              <a:innerShdw blurRad="63500" dist="63500" dir="13200000">
                <a:sysClr val="windowText" lastClr="000000">
                  <a:alpha val="20000"/>
                </a:sysClr>
              </a:innerShdw>
            </a:effectLst>
          </p:spPr>
          <p:txBody>
            <a:bodyPr lIns="0" tIns="0" rIns="0" bIns="0" anchor="ctr"/>
            <a:lstStyle/>
            <a:p>
              <a:pPr algn="ctr">
                <a:defRPr/>
              </a:pPr>
              <a:r>
                <a:rPr lang="en-US" sz="3200" kern="0" dirty="0" smtClean="0">
                  <a:solidFill>
                    <a:schemeClr val="tx1">
                      <a:lumMod val="65000"/>
                      <a:lumOff val="35000"/>
                    </a:schemeClr>
                  </a:solidFill>
                  <a:latin typeface="Impact" panose="020B0806030902050204" pitchFamily="34" charset="0"/>
                </a:rPr>
                <a:t>02</a:t>
              </a:r>
              <a:endParaRPr lang="en-US" sz="3200" kern="0" dirty="0">
                <a:solidFill>
                  <a:schemeClr val="tx1">
                    <a:lumMod val="65000"/>
                    <a:lumOff val="35000"/>
                  </a:schemeClr>
                </a:solidFill>
                <a:latin typeface="Impact" panose="020B0806030902050204" pitchFamily="34" charset="0"/>
              </a:endParaRPr>
            </a:p>
          </p:txBody>
        </p:sp>
        <p:grpSp>
          <p:nvGrpSpPr>
            <p:cNvPr id="42" name="组合 41"/>
            <p:cNvGrpSpPr/>
            <p:nvPr/>
          </p:nvGrpSpPr>
          <p:grpSpPr>
            <a:xfrm>
              <a:off x="2586940" y="2434134"/>
              <a:ext cx="3132455" cy="734695"/>
              <a:chOff x="3309931" y="2434134"/>
              <a:chExt cx="2450004" cy="734695"/>
            </a:xfrm>
          </p:grpSpPr>
          <p:sp>
            <p:nvSpPr>
              <p:cNvPr id="45" name="矩形 15"/>
              <p:cNvSpPr/>
              <p:nvPr/>
            </p:nvSpPr>
            <p:spPr>
              <a:xfrm>
                <a:off x="3309931" y="2496046"/>
                <a:ext cx="2441575" cy="457200"/>
              </a:xfrm>
              <a:custGeom>
                <a:avLst/>
                <a:gdLst>
                  <a:gd name="connsiteX0" fmla="*/ 0 w 3744416"/>
                  <a:gd name="connsiteY0" fmla="*/ 0 h 689605"/>
                  <a:gd name="connsiteX1" fmla="*/ 3744416 w 3744416"/>
                  <a:gd name="connsiteY1" fmla="*/ 0 h 689605"/>
                  <a:gd name="connsiteX2" fmla="*/ 3744416 w 3744416"/>
                  <a:gd name="connsiteY2" fmla="*/ 689605 h 689605"/>
                  <a:gd name="connsiteX3" fmla="*/ 0 w 3744416"/>
                  <a:gd name="connsiteY3" fmla="*/ 689605 h 689605"/>
                  <a:gd name="connsiteX4" fmla="*/ 0 w 3744416"/>
                  <a:gd name="connsiteY4" fmla="*/ 0 h 689605"/>
                  <a:gd name="connsiteX0-1" fmla="*/ 39188 w 3783604"/>
                  <a:gd name="connsiteY0-2" fmla="*/ 0 h 689605"/>
                  <a:gd name="connsiteX1-3" fmla="*/ 3783604 w 3783604"/>
                  <a:gd name="connsiteY1-4" fmla="*/ 0 h 689605"/>
                  <a:gd name="connsiteX2-5" fmla="*/ 3783604 w 3783604"/>
                  <a:gd name="connsiteY2-6" fmla="*/ 689605 h 689605"/>
                  <a:gd name="connsiteX3-7" fmla="*/ 0 w 3783604"/>
                  <a:gd name="connsiteY3-8" fmla="*/ 572039 h 689605"/>
                  <a:gd name="connsiteX4-9" fmla="*/ 39188 w 3783604"/>
                  <a:gd name="connsiteY4-10" fmla="*/ 0 h 6896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83604" h="689605">
                    <a:moveTo>
                      <a:pt x="39188" y="0"/>
                    </a:moveTo>
                    <a:lnTo>
                      <a:pt x="3783604" y="0"/>
                    </a:lnTo>
                    <a:lnTo>
                      <a:pt x="3783604" y="689605"/>
                    </a:lnTo>
                    <a:lnTo>
                      <a:pt x="0" y="572039"/>
                    </a:lnTo>
                    <a:lnTo>
                      <a:pt x="39188" y="0"/>
                    </a:lnTo>
                    <a:close/>
                  </a:path>
                </a:pathLst>
              </a:custGeom>
              <a:gradFill>
                <a:gsLst>
                  <a:gs pos="0">
                    <a:sysClr val="windowText" lastClr="000000"/>
                  </a:gs>
                  <a:gs pos="100000">
                    <a:sysClr val="windowText" lastClr="000000">
                      <a:alpha val="9000"/>
                    </a:sysClr>
                  </a:gs>
                </a:gsLst>
                <a:lin ang="5400000" scaled="0"/>
              </a:gradFill>
              <a:ln w="25400" cap="flat" cmpd="sng" algn="ctr">
                <a:noFill/>
                <a:prstDash val="solid"/>
              </a:ln>
              <a:effectLst/>
            </p:spPr>
            <p:txBody>
              <a:bodyPr lIns="68580" tIns="34290" rIns="68580" bIns="34290" anchor="ctr"/>
              <a:lstStyle/>
              <a:p>
                <a:pPr algn="ctr">
                  <a:defRPr/>
                </a:pPr>
                <a:endParaRPr lang="en-US" sz="1350" kern="0">
                  <a:solidFill>
                    <a:sysClr val="window" lastClr="FFFFFF"/>
                  </a:solidFill>
                </a:endParaRPr>
              </a:p>
            </p:txBody>
          </p:sp>
          <p:sp>
            <p:nvSpPr>
              <p:cNvPr id="46" name="矩形 45"/>
              <p:cNvSpPr/>
              <p:nvPr/>
            </p:nvSpPr>
            <p:spPr>
              <a:xfrm>
                <a:off x="3318374" y="2434134"/>
                <a:ext cx="2441561" cy="734695"/>
              </a:xfrm>
              <a:prstGeom prst="rect">
                <a:avLst/>
              </a:prstGeom>
              <a:solidFill>
                <a:srgbClr val="0055AC"/>
              </a:solidFill>
              <a:ln w="25400" cap="flat" cmpd="sng" algn="ctr">
                <a:solidFill>
                  <a:srgbClr val="FCFCFC"/>
                </a:solidFill>
                <a:prstDash val="solid"/>
              </a:ln>
              <a:effectLst/>
            </p:spPr>
            <p:txBody>
              <a:bodyPr lIns="68580" tIns="34290" rIns="68580" bIns="34290" anchor="ctr"/>
              <a:lstStyle/>
              <a:p>
                <a:pPr algn="ctr">
                  <a:lnSpc>
                    <a:spcPct val="130000"/>
                  </a:lnSpc>
                  <a:defRPr/>
                </a:pPr>
                <a:r>
                  <a:rPr lang="en-US" altLang="en-US" sz="1400" b="1" kern="0" dirty="0">
                    <a:solidFill>
                      <a:schemeClr val="bg1"/>
                    </a:solidFill>
                    <a:latin typeface="Microsoft YaHei" panose="020B0503020204020204" pitchFamily="34" charset="-122"/>
                    <a:ea typeface="Microsoft YaHei" panose="020B0503020204020204" pitchFamily="34" charset="-122"/>
                  </a:rPr>
                  <a:t>CoT shows logical reasoning traces</a:t>
                </a:r>
                <a:endParaRPr lang="en-US" altLang="en-US" sz="1400" b="1" kern="0" dirty="0">
                  <a:solidFill>
                    <a:schemeClr val="bg1"/>
                  </a:solidFill>
                  <a:latin typeface="Microsoft YaHei" panose="020B0503020204020204" pitchFamily="34" charset="-122"/>
                  <a:ea typeface="Microsoft YaHei" panose="020B0503020204020204" pitchFamily="34" charset="-122"/>
                </a:endParaRPr>
              </a:p>
            </p:txBody>
          </p:sp>
        </p:grpSp>
        <p:cxnSp>
          <p:nvCxnSpPr>
            <p:cNvPr id="43" name="直接连接符 70"/>
            <p:cNvCxnSpPr>
              <a:cxnSpLocks noChangeShapeType="1"/>
              <a:stCxn id="41" idx="2"/>
            </p:cNvCxnSpPr>
            <p:nvPr/>
          </p:nvCxnSpPr>
          <p:spPr bwMode="auto">
            <a:xfrm flipH="1">
              <a:off x="5730430" y="2663997"/>
              <a:ext cx="997545" cy="27117"/>
            </a:xfrm>
            <a:prstGeom prst="line">
              <a:avLst/>
            </a:prstGeom>
            <a:noFill/>
            <a:ln w="25400" algn="ctr">
              <a:solidFill>
                <a:srgbClr val="0055AC"/>
              </a:solidFill>
              <a:round/>
              <a:tailEnd type="oval" w="med" len="med"/>
            </a:ln>
            <a:extLst>
              <a:ext uri="{909E8E84-426E-40DD-AFC4-6F175D3DCCD1}">
                <a14:hiddenFill xmlns:a14="http://schemas.microsoft.com/office/drawing/2010/main">
                  <a:noFill/>
                </a14:hiddenFill>
              </a:ext>
            </a:extLst>
          </p:spPr>
        </p:cxnSp>
      </p:grpSp>
      <p:grpSp>
        <p:nvGrpSpPr>
          <p:cNvPr id="47" name="组合 46"/>
          <p:cNvGrpSpPr/>
          <p:nvPr/>
        </p:nvGrpSpPr>
        <p:grpSpPr>
          <a:xfrm>
            <a:off x="3287042" y="3363919"/>
            <a:ext cx="4919464" cy="892742"/>
            <a:chOff x="2586940" y="2272912"/>
            <a:chExt cx="4919464" cy="892742"/>
          </a:xfrm>
        </p:grpSpPr>
        <p:sp>
          <p:nvSpPr>
            <p:cNvPr id="48" name="椭圆 47"/>
            <p:cNvSpPr/>
            <p:nvPr/>
          </p:nvSpPr>
          <p:spPr>
            <a:xfrm>
              <a:off x="6727975" y="2272912"/>
              <a:ext cx="778429" cy="782170"/>
            </a:xfrm>
            <a:prstGeom prst="ellipse">
              <a:avLst/>
            </a:prstGeom>
            <a:solidFill>
              <a:sysClr val="window" lastClr="FFFFFF"/>
            </a:solidFill>
            <a:ln w="63500" cap="flat" cmpd="sng" algn="ctr">
              <a:solidFill>
                <a:srgbClr val="0055AC"/>
              </a:solidFill>
              <a:prstDash val="solid"/>
            </a:ln>
            <a:effectLst>
              <a:innerShdw blurRad="63500" dist="63500" dir="13200000">
                <a:sysClr val="windowText" lastClr="000000">
                  <a:alpha val="20000"/>
                </a:sysClr>
              </a:innerShdw>
            </a:effectLst>
          </p:spPr>
          <p:txBody>
            <a:bodyPr lIns="0" tIns="0" rIns="0" bIns="0" anchor="ctr"/>
            <a:lstStyle/>
            <a:p>
              <a:pPr algn="ctr">
                <a:defRPr/>
              </a:pPr>
              <a:r>
                <a:rPr lang="en-US" sz="3200" kern="0" dirty="0" smtClean="0">
                  <a:solidFill>
                    <a:schemeClr val="tx1">
                      <a:lumMod val="65000"/>
                      <a:lumOff val="35000"/>
                    </a:schemeClr>
                  </a:solidFill>
                  <a:latin typeface="Impact" panose="020B0806030902050204" pitchFamily="34" charset="0"/>
                </a:rPr>
                <a:t>03</a:t>
              </a:r>
              <a:endParaRPr lang="en-US" sz="3200" kern="0" dirty="0">
                <a:solidFill>
                  <a:schemeClr val="tx1">
                    <a:lumMod val="65000"/>
                    <a:lumOff val="35000"/>
                  </a:schemeClr>
                </a:solidFill>
                <a:latin typeface="Impact" panose="020B0806030902050204" pitchFamily="34" charset="0"/>
              </a:endParaRPr>
            </a:p>
          </p:txBody>
        </p:sp>
        <p:grpSp>
          <p:nvGrpSpPr>
            <p:cNvPr id="49" name="组合 48"/>
            <p:cNvGrpSpPr/>
            <p:nvPr/>
          </p:nvGrpSpPr>
          <p:grpSpPr>
            <a:xfrm>
              <a:off x="2586940" y="2434134"/>
              <a:ext cx="3132455" cy="731520"/>
              <a:chOff x="3309931" y="2434134"/>
              <a:chExt cx="2450004" cy="731520"/>
            </a:xfrm>
          </p:grpSpPr>
          <p:sp>
            <p:nvSpPr>
              <p:cNvPr id="52" name="矩形 15"/>
              <p:cNvSpPr/>
              <p:nvPr/>
            </p:nvSpPr>
            <p:spPr>
              <a:xfrm>
                <a:off x="3309931" y="2496046"/>
                <a:ext cx="2441575" cy="457200"/>
              </a:xfrm>
              <a:custGeom>
                <a:avLst/>
                <a:gdLst>
                  <a:gd name="connsiteX0" fmla="*/ 0 w 3744416"/>
                  <a:gd name="connsiteY0" fmla="*/ 0 h 689605"/>
                  <a:gd name="connsiteX1" fmla="*/ 3744416 w 3744416"/>
                  <a:gd name="connsiteY1" fmla="*/ 0 h 689605"/>
                  <a:gd name="connsiteX2" fmla="*/ 3744416 w 3744416"/>
                  <a:gd name="connsiteY2" fmla="*/ 689605 h 689605"/>
                  <a:gd name="connsiteX3" fmla="*/ 0 w 3744416"/>
                  <a:gd name="connsiteY3" fmla="*/ 689605 h 689605"/>
                  <a:gd name="connsiteX4" fmla="*/ 0 w 3744416"/>
                  <a:gd name="connsiteY4" fmla="*/ 0 h 689605"/>
                  <a:gd name="connsiteX0-1" fmla="*/ 39188 w 3783604"/>
                  <a:gd name="connsiteY0-2" fmla="*/ 0 h 689605"/>
                  <a:gd name="connsiteX1-3" fmla="*/ 3783604 w 3783604"/>
                  <a:gd name="connsiteY1-4" fmla="*/ 0 h 689605"/>
                  <a:gd name="connsiteX2-5" fmla="*/ 3783604 w 3783604"/>
                  <a:gd name="connsiteY2-6" fmla="*/ 689605 h 689605"/>
                  <a:gd name="connsiteX3-7" fmla="*/ 0 w 3783604"/>
                  <a:gd name="connsiteY3-8" fmla="*/ 572039 h 689605"/>
                  <a:gd name="connsiteX4-9" fmla="*/ 39188 w 3783604"/>
                  <a:gd name="connsiteY4-10" fmla="*/ 0 h 6896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83604" h="689605">
                    <a:moveTo>
                      <a:pt x="39188" y="0"/>
                    </a:moveTo>
                    <a:lnTo>
                      <a:pt x="3783604" y="0"/>
                    </a:lnTo>
                    <a:lnTo>
                      <a:pt x="3783604" y="689605"/>
                    </a:lnTo>
                    <a:lnTo>
                      <a:pt x="0" y="572039"/>
                    </a:lnTo>
                    <a:lnTo>
                      <a:pt x="39188" y="0"/>
                    </a:lnTo>
                    <a:close/>
                  </a:path>
                </a:pathLst>
              </a:custGeom>
              <a:gradFill>
                <a:gsLst>
                  <a:gs pos="0">
                    <a:sysClr val="windowText" lastClr="000000"/>
                  </a:gs>
                  <a:gs pos="100000">
                    <a:sysClr val="windowText" lastClr="000000">
                      <a:alpha val="9000"/>
                    </a:sysClr>
                  </a:gs>
                </a:gsLst>
                <a:lin ang="5400000" scaled="0"/>
              </a:gradFill>
              <a:ln w="25400" cap="flat" cmpd="sng" algn="ctr">
                <a:noFill/>
                <a:prstDash val="solid"/>
              </a:ln>
              <a:effectLst/>
            </p:spPr>
            <p:txBody>
              <a:bodyPr lIns="68580" tIns="34290" rIns="68580" bIns="34290" anchor="ctr"/>
              <a:lstStyle/>
              <a:p>
                <a:pPr algn="ctr">
                  <a:defRPr/>
                </a:pPr>
                <a:endParaRPr lang="en-US" sz="1350" kern="0">
                  <a:solidFill>
                    <a:sysClr val="window" lastClr="FFFFFF"/>
                  </a:solidFill>
                </a:endParaRPr>
              </a:p>
            </p:txBody>
          </p:sp>
          <p:sp>
            <p:nvSpPr>
              <p:cNvPr id="53" name="矩形 52"/>
              <p:cNvSpPr/>
              <p:nvPr/>
            </p:nvSpPr>
            <p:spPr>
              <a:xfrm>
                <a:off x="3318374" y="2434134"/>
                <a:ext cx="2441561" cy="731520"/>
              </a:xfrm>
              <a:prstGeom prst="rect">
                <a:avLst/>
              </a:prstGeom>
              <a:solidFill>
                <a:srgbClr val="0055AC"/>
              </a:solidFill>
              <a:ln w="25400" cap="flat" cmpd="sng" algn="ctr">
                <a:solidFill>
                  <a:srgbClr val="FCFCFC"/>
                </a:solidFill>
                <a:prstDash val="solid"/>
              </a:ln>
              <a:effectLst/>
            </p:spPr>
            <p:txBody>
              <a:bodyPr lIns="68580" tIns="34290" rIns="68580" bIns="34290" anchor="ctr"/>
              <a:lstStyle/>
              <a:p>
                <a:pPr algn="ctr">
                  <a:lnSpc>
                    <a:spcPct val="130000"/>
                  </a:lnSpc>
                  <a:defRPr/>
                </a:pPr>
                <a:r>
                  <a:rPr lang="en-US" altLang="en-US" sz="1400" b="1" kern="0" dirty="0">
                    <a:solidFill>
                      <a:schemeClr val="bg1"/>
                    </a:solidFill>
                    <a:latin typeface="Microsoft YaHei" panose="020B0503020204020204" pitchFamily="34" charset="-122"/>
                    <a:ea typeface="Microsoft YaHei" panose="020B0503020204020204" pitchFamily="34" charset="-122"/>
                  </a:rPr>
                  <a:t>People believe LLMs think like humans</a:t>
                </a:r>
                <a:endParaRPr lang="en-US" altLang="en-US" sz="1400" b="1" kern="0" dirty="0">
                  <a:solidFill>
                    <a:schemeClr val="bg1"/>
                  </a:solidFill>
                  <a:latin typeface="Microsoft YaHei" panose="020B0503020204020204" pitchFamily="34" charset="-122"/>
                  <a:ea typeface="Microsoft YaHei" panose="020B0503020204020204" pitchFamily="34" charset="-122"/>
                </a:endParaRPr>
              </a:p>
            </p:txBody>
          </p:sp>
        </p:grpSp>
        <p:cxnSp>
          <p:nvCxnSpPr>
            <p:cNvPr id="50" name="直接连接符 70"/>
            <p:cNvCxnSpPr>
              <a:cxnSpLocks noChangeShapeType="1"/>
              <a:stCxn id="48" idx="2"/>
            </p:cNvCxnSpPr>
            <p:nvPr/>
          </p:nvCxnSpPr>
          <p:spPr bwMode="auto">
            <a:xfrm flipH="1">
              <a:off x="5730430" y="2663997"/>
              <a:ext cx="997545" cy="27117"/>
            </a:xfrm>
            <a:prstGeom prst="line">
              <a:avLst/>
            </a:prstGeom>
            <a:noFill/>
            <a:ln w="25400" algn="ctr">
              <a:solidFill>
                <a:srgbClr val="0055AC"/>
              </a:solidFill>
              <a:round/>
              <a:tailEnd type="oval" w="med" len="med"/>
            </a:ln>
            <a:extLst>
              <a:ext uri="{909E8E84-426E-40DD-AFC4-6F175D3DCCD1}">
                <a14:hiddenFill xmlns:a14="http://schemas.microsoft.com/office/drawing/2010/main">
                  <a:noFill/>
                </a14:hiddenFill>
              </a:ext>
            </a:extLst>
          </p:spPr>
        </p:cxnSp>
      </p:grpSp>
      <p:sp>
        <p:nvSpPr>
          <p:cNvPr id="8" name="AutoShape 1"/>
          <p:cNvSpPr/>
          <p:nvPr/>
        </p:nvSpPr>
        <p:spPr bwMode="auto">
          <a:xfrm>
            <a:off x="787400" y="683260"/>
            <a:ext cx="3930015" cy="110426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rPr>
              <a:t>WHY THIS </a:t>
            </a:r>
            <a:endPar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endParaRPr>
          </a:p>
          <a:p>
            <a:pPr eaLnBrk="1">
              <a:lnSpc>
                <a:spcPct val="100000"/>
              </a:lnSpc>
              <a:spcBef>
                <a:spcPct val="0"/>
              </a:spcBef>
              <a:buFontTx/>
              <a:buNone/>
            </a:pPr>
            <a:r>
              <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rPr>
              <a:t>PAPER?</a:t>
            </a:r>
            <a:endPar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864806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rPr>
              <a:t>MOTIVATION AND KEY OBSERVATION</a:t>
            </a:r>
            <a:endParaRPr lang="en-US" altLang="zh-CN"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2324100"/>
            <a:ext cx="9227185" cy="314261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Motivation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CoT outputs look human but sometimes produce inconsistent conclusions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Key observation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Fluent intermediate steps do not guarantee correct final reasoning</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864806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DATA DISTRIBUTION LENS</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rPr>
              <a:t>Chain‑of‑Thought (CoT) behavior is best viewed as conditional generation shaped by the training distribution. The model learns mappings from inputs to token sequences (including intermediate steps). When a test query is similar to training examples, the model can interpolate and produce plausible CoT chains; when the test query lies far from training support, the model’s conditional generation degrades and CoT outputs become unreliable.</a:t>
            </a:r>
            <a:endPar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r>
              <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rPr>
              <a:t>CoT performance = function of training–testing distribution similarity</a:t>
            </a:r>
            <a:endPar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endParaRPr>
          </a:p>
          <a:p>
            <a:pPr marL="1714500" lvl="3" indent="-342900" algn="just">
              <a:buFont typeface="Wingdings" panose="05000000000000000000" charset="0"/>
              <a:buChar char="§"/>
            </a:pPr>
            <a:endPar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0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864806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DATAALCHEMY Controlled Environment</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Purpose</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Train LLMs from scratch in a synthetic, fully controlled setting</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Core components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26 atoms alphabet; elements = sequences; transformations = ROT and cyclic position shift; compositional chains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Model</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small GPT‑2 style decoder; metrics: Exact Match, Edit Distance, BLEU</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864806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Task Generalization</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Question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Can CoT learned on some tasks transfer to novel tasks?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Two axes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Element generalization and Transformation generalization</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TGC measure</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Task Generalization Complexity quantifies novelty sources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947991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Transformation Generalization Experiments</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Four regimes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ID (in distribution), CMP (new compositions), POOD (partial OOD), OOD (entirely new transforms)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Key result</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Exact match 100% in ID; near 0% in CMP/POOD/OOD for full chain</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Metrics trend</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BLEU decreases and Edit Distance increases with shift</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947991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Element Generalization Experiments</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Element novelty types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small perturbations, token changes, unseen alphabets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Findings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small changes tolerated; large token shifts break CoT</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Failure modes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hallucinated steps, incorrect final mapping, coincidental correct answers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947991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Length Generalization</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Question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Can models handle chains longer or shorter than training?</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Phenomena</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interpolation easier than extrapolation; error accumulation with longer chains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Empirical result</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exact match and BLEU drop as chain length diverges from training</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947991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Format Generalization</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Question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How sensitive is CoT to prompt surface form?</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Test types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label changes, paraphrases, inline vs enumerated steps, adversarial noise</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Result</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small paraphrases often OK; structural or adversarial format changes cause failures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947991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Synthesis of Results and Figures</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227185"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Unified pattern</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CoT works when test cases are near training distribution across task, length, format</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Failure signature</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fluent intermediate text + incorrect final answer</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Figure summary</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BLEU vs Edit Distance curve shows monotonic degradation with distribution shift</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1083500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Implications Recommendations and Limitations</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751060" cy="4036695"/>
          </a:xfrm>
          <a:prstGeom prst="rect">
            <a:avLst/>
          </a:prstGeom>
          <a:noFill/>
        </p:spPr>
        <p:txBody>
          <a:bodyPr wrap="square" rtlCol="0">
            <a:noAutofit/>
          </a:bodyPr>
          <a:lstStyle/>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I</a:t>
            </a: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mplications for practice</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Do not equate CoT text with faithful reasoning; test on diverse distributions and formats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Recommendations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broaden training distributions, include length and format diversity, use algorithmic inductive biases for true extrapolation</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r>
              <a:rPr lang="en-US" altLang="en-US" sz="2400" b="1" dirty="0">
                <a:solidFill>
                  <a:srgbClr val="3B3B3B"/>
                </a:solidFill>
                <a:latin typeface="Microsoft YaHei" panose="020B0503020204020204" pitchFamily="34" charset="-122"/>
                <a:ea typeface="Microsoft YaHei" panose="020B0503020204020204" pitchFamily="34" charset="-122"/>
                <a:cs typeface="+mn-ea"/>
                <a:sym typeface="+mn-lt"/>
              </a:rPr>
              <a:t>Limitations</a:t>
            </a: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 synthetic environment, small models; real‑world pretraining may add complexity</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algn="just"/>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
          <p:cNvSpPr/>
          <p:nvPr/>
        </p:nvSpPr>
        <p:spPr bwMode="auto">
          <a:xfrm>
            <a:off x="1132205" y="1122680"/>
            <a:ext cx="10835005" cy="54419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19" tIns="45719" rIns="45719" bIns="45719"/>
          <a:lstStyle>
            <a:lvl1pPr>
              <a:lnSpc>
                <a:spcPct val="90000"/>
              </a:lnSpc>
              <a:spcBef>
                <a:spcPct val="30000"/>
              </a:spcBef>
              <a:buFont typeface="Arial" panose="020B0604020202020204" pitchFamily="34" charset="0"/>
              <a:buChar char="•"/>
              <a:defRPr sz="2800">
                <a:solidFill>
                  <a:schemeClr val="tx1"/>
                </a:solidFill>
                <a:latin typeface="Calibri" panose="020F0502020204030204" charset="0"/>
                <a:ea typeface="SimSun" panose="02010600030101010101" pitchFamily="2" charset="-122"/>
                <a:sym typeface="Calibri" panose="020F0502020204030204" charset="0"/>
              </a:defRPr>
            </a:lvl1pPr>
            <a:lvl2pPr marL="742950" indent="-285750">
              <a:lnSpc>
                <a:spcPct val="90000"/>
              </a:lnSpc>
              <a:spcBef>
                <a:spcPct val="30000"/>
              </a:spcBef>
              <a:buFont typeface="Arial" panose="020B0604020202020204" pitchFamily="34" charset="0"/>
              <a:buChar char="•"/>
              <a:defRPr sz="2400">
                <a:solidFill>
                  <a:schemeClr val="tx1"/>
                </a:solidFill>
                <a:latin typeface="Calibri" panose="020F0502020204030204" charset="0"/>
                <a:ea typeface="SimSun" panose="02010600030101010101" pitchFamily="2" charset="-122"/>
                <a:sym typeface="Calibri" panose="020F050202020403020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3pPr>
            <a:lvl4pPr marL="16002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4pPr>
            <a:lvl5pPr marL="2057400" indent="-228600">
              <a:lnSpc>
                <a:spcPct val="90000"/>
              </a:lnSpc>
              <a:spcBef>
                <a:spcPct val="30000"/>
              </a:spcBef>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Calibri" panose="020F0502020204030204" charset="0"/>
                <a:ea typeface="SimSun" panose="02010600030101010101" pitchFamily="2" charset="-122"/>
                <a:sym typeface="Calibri" panose="020F0502020204030204" charset="0"/>
              </a:defRPr>
            </a:lvl9pPr>
          </a:lstStyle>
          <a:p>
            <a:pPr eaLnBrk="1">
              <a:lnSpc>
                <a:spcPct val="100000"/>
              </a:lnSpc>
              <a:spcBef>
                <a:spcPct val="0"/>
              </a:spcBef>
              <a:buFontTx/>
              <a:buNone/>
            </a:pPr>
            <a:r>
              <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rPr>
              <a:t>CONCLUSION</a:t>
            </a:r>
            <a:endParaRPr lang="en-US" altLang="en-US" sz="3200" b="1">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28"/>
          <p:cNvSpPr txBox="1"/>
          <p:nvPr/>
        </p:nvSpPr>
        <p:spPr>
          <a:xfrm>
            <a:off x="1132205" y="1857375"/>
            <a:ext cx="9751060" cy="4036695"/>
          </a:xfrm>
          <a:prstGeom prst="rect">
            <a:avLst/>
          </a:prstGeom>
          <a:noFill/>
        </p:spPr>
        <p:txBody>
          <a:bodyPr wrap="square" rtlCol="0">
            <a:noAutofit/>
          </a:bodyPr>
          <a:lstStyle/>
          <a:p>
            <a:pPr indent="0" algn="just">
              <a:buFont typeface="Wingdings" panose="05000000000000000000" charset="0"/>
              <a:buNone/>
            </a:pP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CoT is a mirage because:</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342900"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It breaks OOD</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It memorizes patterns</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a:p>
            <a:pPr marL="800100" lvl="1" indent="-342900" algn="just">
              <a:buFont typeface="Wingdings" panose="05000000000000000000" charset="0"/>
              <a:buChar char="§"/>
            </a:pPr>
            <a:r>
              <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rPr>
              <a:t>It doesn't generalize reasoning</a:t>
            </a:r>
            <a:endParaRPr lang="en-US" altLang="en-US" sz="2400" dirty="0">
              <a:solidFill>
                <a:srgbClr val="3B3B3B"/>
              </a:solidFill>
              <a:latin typeface="Microsoft YaHei" panose="020B0503020204020204" pitchFamily="34" charset="-122"/>
              <a:ea typeface="Microsoft YaHei"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091058" y="4338136"/>
            <a:ext cx="4476115" cy="922020"/>
          </a:xfrm>
          <a:prstGeom prst="rect">
            <a:avLst/>
          </a:prstGeom>
          <a:noFill/>
        </p:spPr>
        <p:txBody>
          <a:bodyPr wrap="none">
            <a:spAutoFit/>
          </a:bodyPr>
          <a:lstStyle/>
          <a:p>
            <a:r>
              <a:rPr lang="en-US" altLang="zh-CN" sz="5400" b="1" dirty="0">
                <a:solidFill>
                  <a:srgbClr val="0069C2"/>
                </a:solidFill>
                <a:latin typeface="Microsoft YaHei" panose="020B0503020204020204" pitchFamily="34" charset="-122"/>
                <a:ea typeface="Microsoft YaHei" panose="020B0503020204020204" pitchFamily="34" charset="-122"/>
              </a:rPr>
              <a:t>Thank you</a:t>
            </a:r>
            <a:r>
              <a:rPr lang="zh-CN" altLang="en-US" sz="5400" b="1" dirty="0">
                <a:solidFill>
                  <a:srgbClr val="0069C2"/>
                </a:solidFill>
                <a:latin typeface="Microsoft YaHei" panose="020B0503020204020204" pitchFamily="34" charset="-122"/>
                <a:ea typeface="Microsoft YaHei" panose="020B0503020204020204" pitchFamily="34" charset="-122"/>
              </a:rPr>
              <a:t>！</a:t>
            </a:r>
            <a:endParaRPr lang="en-US" altLang="zh-CN" sz="5400" b="1" dirty="0">
              <a:solidFill>
                <a:srgbClr val="0069C2"/>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3313</Words>
  <Application>WPS Presentation</Application>
  <PresentationFormat>宽屏</PresentationFormat>
  <Paragraphs>121</Paragraphs>
  <Slides>14</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Microsoft YaHei</vt:lpstr>
      <vt:lpstr>Impact</vt:lpstr>
      <vt:lpstr>Calibri</vt:lpstr>
      <vt:lpstr>Wingdings</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向阳花儿PPT</dc:creator>
  <cp:lastModifiedBy>Aizen Sosuke</cp:lastModifiedBy>
  <cp:revision>392</cp:revision>
  <dcterms:created xsi:type="dcterms:W3CDTF">2014-08-08T03:06:00Z</dcterms:created>
  <dcterms:modified xsi:type="dcterms:W3CDTF">2025-12-01T04:17:51Z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B372C5C5B6C74566B2456AD54F90A8C1_11</vt:lpwstr>
  </property>
</Properties>
</file>